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E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2A65E"/>
                </a:solidFill>
                <a:latin typeface="Calibri"/>
              </a:rPr>
              <a:t>MINI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Multi-Agent Research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8D2E6"/>
                </a:solidFill>
                <a:latin typeface="Calibri"/>
              </a:rPr>
              <a:t>A Multi-Agent AI Orchestration System for Automated Desk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Submitted by:  Suraj Singh Rawat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8D2E6"/>
                </a:solidFill>
                <a:latin typeface="Calibri"/>
              </a:rPr>
              <a:t>University Roll No: 2400951530054   |   Class: TT-C (AI &amp; ML)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EBBD4"/>
                </a:solidFill>
                <a:latin typeface="Calibri"/>
              </a:rPr>
              <a:t>Department of Computer Science &amp; Engineering
MGM's College of Engineering &amp; Technology, Noida  ·  2026-27</a:t>
            </a:r>
          </a:p>
        </p:txBody>
      </p:sp>
      <p:pic>
        <p:nvPicPr>
          <p:cNvPr id="9" name="Picture 8" descr="mgm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502920"/>
            <a:ext cx="1157318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06A1A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D50"/>
                </a:solidFill>
                <a:latin typeface="Calibri"/>
              </a:rPr>
              <a:t>The Problem: Desk Research Is Slow and Manual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10789920" cy="25400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Multi-Agent Research System  ·  Suraj Singh Rawat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Preparing a briefing on an unfamiliar topic follows a fixed sequence: find credible sources, read them, condense them into prose, judge if it is complete.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That sequence takes 2-4 hours per topic for a human analyst.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Output quality varies widely with the individual analyst's skill and diligence.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Capacity scales only by hiring more people — cost rises in direct proportion to volume.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606060"/>
                </a:solidFill>
                <a:latin typeface="Calibri"/>
              </a:rPr>
              <a:t>–  Because the sequence is predictable, it is a strong candidate for automation.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06A1A"/>
                </a:solidFill>
                <a:latin typeface="Calibr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D50"/>
                </a:solidFill>
                <a:latin typeface="Calibri"/>
              </a:rPr>
              <a:t>Design Goals — Agreed and Numeric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10789920" cy="25400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Multi-Agent Research System  ·  Suraj Singh Rawat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Perform the whole desk-research sequence with no human intervention.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Speed  —  produce a complete report within 60 seconds.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Cost  —  substantially below the commercial LLM endpoint then in use.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Scale  —  serve at least 10 simultaneous users without degradation.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Gain practical experience of the engineering around ML work: automated testing, benchmarking and deployment — not model development in isolation.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06A1A"/>
                </a:solidFill>
                <a:latin typeface="Calibri"/>
              </a:rPr>
              <a:t>Success is demonstrated by measurement, not asserted in prose.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06A1A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D50"/>
                </a:solidFill>
                <a:latin typeface="Calibri"/>
              </a:rPr>
              <a:t>Techniques and Tools Studied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10789920" cy="25400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Multi-Agent Research System  ·  Suraj Singh Rawat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Large Language Models  —  stateless; everything the model must consider has to be in the prompt. Instruction phrasing that fixes output shape beats phrasing that asks for quality.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The Multi-Agent Pattern  —  split a task into single-purpose stages with declared inputs/outputs, instead of one opaque prompt.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LangChain  —  templated prompts, provider abstraction, output parsing, retry behaviour.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Web retrieval &amp; extraction  —  Tavily / DuckDuckGo for discovery, BeautifulSoup4 for stripping markup down to body text.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Streamlit  —  renders a Python script as a web app; simple UI, no second language or build step.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06A1A"/>
                </a:solidFill>
                <a:latin typeface="Calibri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D50"/>
                </a:solidFill>
                <a:latin typeface="Calibri"/>
              </a:rPr>
              <a:t>System Architecture — Four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10789920" cy="25400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Multi-Agent Research System  ·  Suraj Singh Rawat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5</a:t>
            </a:r>
          </a:p>
        </p:txBody>
      </p:sp>
      <p:pic>
        <p:nvPicPr>
          <p:cNvPr id="8" name="Picture 7" descr="fig_3_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874519"/>
            <a:ext cx="557939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1264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06060"/>
                </a:solidFill>
                <a:latin typeface="Calibri"/>
              </a:rPr>
              <a:t>Presentation  →  Orchestration  →  Agents  →  Services.   No layer reaches past its neighbour, so a change in one (e.g. swapping the model provider) does not propagate.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06A1A"/>
                </a:solidFill>
                <a:latin typeface="Calibri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D50"/>
                </a:solidFill>
                <a:latin typeface="Calibri"/>
              </a:rPr>
              <a:t>The Four-Agent Sequential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10789920" cy="25400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Multi-Agent Research System  ·  Suraj Singh Rawat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6</a:t>
            </a:r>
          </a:p>
        </p:txBody>
      </p:sp>
      <p:pic>
        <p:nvPicPr>
          <p:cNvPr id="8" name="Picture 7" descr="fig_3_2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828800"/>
            <a:ext cx="4739425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1722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06060"/>
                </a:solidFill>
                <a:latin typeface="Calibri"/>
              </a:rPr>
              <a:t>Fixed order: reading needs sources, writing needs material, evaluation needs a report. Measured mean end-to-end: 49.1 s against a 60 s ceiling.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06A1A"/>
                </a:solidFill>
                <a:latin typeface="Calibri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D50"/>
                </a:solidFill>
                <a:latin typeface="Calibri"/>
              </a:rPr>
              <a:t>What Each Agent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10789920" cy="25400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Multi-Agent Research System  ·  Suraj Singh Rawat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920240"/>
          <a:ext cx="10607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926080"/>
                <a:gridCol w="61264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Receives</a:t>
                      </a:r>
                    </a:p>
                  </a:txBody>
                  <a:tcPr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Returns</a:t>
                      </a:r>
                    </a:p>
                  </a:txBody>
                  <a:tcPr anchor="ctr">
                    <a:solidFill>
                      <a:srgbClr val="1F2D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Topic string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Up to 10 sources, each with URL, title, snippet, relevance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Reader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Ranked sources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Aggregated body text + counts of successful / failed retrievals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Writer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Aggregated text + topic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Report in Markdown, six fixed sections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Critic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Report + topic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Score 0-10, five sub-scores, written strengths &amp; weaknesses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45720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E528A"/>
                </a:solidFill>
                <a:latin typeface="Calibri"/>
              </a:rPr>
              <a:t>Each agent has a declared contract — so each can be timed, tested and fixed on its own, and a defect localises to one stage.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06A1A"/>
                </a:solidFill>
                <a:latin typeface="Calibri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D50"/>
                </a:solidFill>
                <a:latin typeface="Calibri"/>
              </a:rPr>
              <a:t>Technology Stack and Rationale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10789920" cy="25400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Multi-Agent Research System  ·  Suraj Singh Rawat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920240"/>
          <a:ext cx="106070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468880"/>
                <a:gridCol w="640080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Reason for selection</a:t>
                      </a:r>
                    </a:p>
                  </a:txBody>
                  <a:tcPr anchor="ctr">
                    <a:solidFill>
                      <a:srgbClr val="1F2D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Interface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Streamlit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Simple UI; no second language or build step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Orchestration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LangChain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Prompt templating, output parsing, provider abstraction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Language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Groq gpt-oss-120b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~70% cheaper per token; very low latency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Discovery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Tavily / DuckDuckGo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No quota at the volumes involved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Extraction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BeautifulSoup4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Tolerant of malformed markup; well documented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python-dotenv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Keeps credentials out of the repository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pytest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Fixtures and parametrisation suit agent testing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06A1A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D50"/>
                </a:solidFill>
                <a:latin typeface="Calibri"/>
              </a:rPr>
              <a:t>Implementation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10789920" cy="25400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Multi-Agent Research System  ·  Suraj Singh Rawat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Prompt design  —  the Writer prompt names six sections with word budgets; stating structure explicitly was the single biggest gain in output consistency.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Sampling  —  temperature 0.7 for synthesis (readable prose), 0.3 for the Critic (consistent scoring).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Reader is built to fail gracefully  —  a dead URL removes one source, it does not end the request; extractions under 100 words are rejected.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Error handling  —  page failure absorbed by Reader; model-endpoint failure retried with exponential backoff (2 s → 32 s); missing credential is terminal.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Stateless  —  each request owns its state; no database; any instance can be restarted without data loss.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06A1A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D50"/>
                </a:solidFill>
                <a:latin typeface="Calibri"/>
              </a:rPr>
              <a:t>User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10789920" cy="25400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Multi-Agent Research System  ·  Suraj Singh Rawat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fig_4_3_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828800"/>
            <a:ext cx="609600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0807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06060"/>
                </a:solidFill>
                <a:latin typeface="Calibri"/>
              </a:rPr>
              <a:t>One text field, a button, a live progress indicator, the rendered report with its quality score and every source listed. All generated content is escaped before rendering.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06A1A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D50"/>
                </a:solidFill>
                <a:latin typeface="Calibri"/>
              </a:rPr>
              <a:t>Testing and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10789920" cy="25400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Multi-Agent Research System  ·  Suraj Singh Rawat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fig_5_1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6339840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201168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39 automated tests — unit, integration, end-to-end — all pass.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Statement coverage: 85% overall (target met).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Every stage finishes inside its budget.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Pipeline mean: 49.1 s vs 60 s ceiling; 95th pct 58.1 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10 concurrent users add only ~1.4 s of latency.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06A1A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D50"/>
                </a:solidFill>
                <a:latin typeface="Calibri"/>
              </a:rPr>
              <a:t>Cost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10789920" cy="25400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Multi-Agent Research System  ·  Suraj Singh Rawat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920240"/>
          <a:ext cx="10607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Commercial endpoint</a:t>
                      </a:r>
                    </a:p>
                  </a:txBody>
                  <a:tcPr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Groq endpoint</a:t>
                      </a:r>
                    </a:p>
                  </a:txBody>
                  <a:tcPr anchor="ctr">
                    <a:solidFill>
                      <a:srgbClr val="1F2D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Model charges / 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5.25 USD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1.75 USD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Compute instance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30.00 USD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30.00 USD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Storage and transfer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2.00 USD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2.00 USD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Monthly total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37.25 USD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33.75 USD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Cost per report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0.0373 USD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0.0338 USD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49377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Model charges fell ~70% (the target). Effect on the total is smaller because the compute instance dominates at 1,000 reports/month — the saving grows as volume rises, since model cost scales with usage and the instance cost does not.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06A1A"/>
                </a:solidFill>
                <a:latin typeface="Calibr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D50"/>
                </a:solidFill>
                <a:latin typeface="Calibri"/>
              </a:rPr>
              <a:t>Known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10789920" cy="25400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Multi-Agent Research System  ·  Suraj Singh Rawat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No fact-checking  —  the system synthesises what its sources assert; wrong sources produce a confident, well-formed, wrong report.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The Critic scores craftsmanship, not correctness  —  it has no ground truth.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Extraction is heuristic  —  fails on script-rendered pages, paywalls and non-HTML; typically 1-3 of 10 URLs are lost.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Pipeline is strictly sequential  —  it cannot revisit an earlier stage in light of a later one.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English only; nothing stored, so no report history; Critic Agent coverage is 79% vs the 85% target.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06A1A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D50"/>
                </a:solidFill>
                <a:latin typeface="Calibri"/>
              </a:rPr>
              <a:t>Conclusion and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10789920" cy="25400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Multi-Agent Research System  ·  Suraj Singh Rawat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06060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The system performs the whole desk-research sequence unattended and meets every target: 49.1 s mean, ~70% lower model cost, 10 concurrent users, 39/39 tests.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The decisive decision was four agents over one model — the gain was diagnosability, not just quality. Nearly every measurement depends on it.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Future scope: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606060"/>
                </a:solidFill>
                <a:latin typeface="Calibri"/>
              </a:rPr>
              <a:t>–  Act on the Critic's score — low score triggers a fresh search (line → loop).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606060"/>
                </a:solidFill>
                <a:latin typeface="Calibri"/>
              </a:rPr>
              <a:t>–  Better extraction via a headless browser or article-extraction library.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606060"/>
                </a:solidFill>
                <a:latin typeface="Calibri"/>
              </a:rPr>
              <a:t>–  Cache results by topic; add multi-language and PDF support.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12191695" cy="73152"/>
          </a:xfrm>
          <a:prstGeom prst="rect">
            <a:avLst/>
          </a:prstGeom>
          <a:solidFill>
            <a:srgbClr val="E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C8D2E6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AEBBD4"/>
                </a:solidFill>
                <a:latin typeface="Calibri"/>
              </a:rPr>
              <a:t>Suraj Singh Rawat  ·  Roll No. 2400951530054  ·  TT-C (AI &amp; ML)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